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60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C4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 Analyst Case Study · GBS BI HUB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12800" y="2682280"/>
            <a:ext cx="889000" cy="63500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948980"/>
            <a:ext cx="108833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Attrition Analysis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84552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B8C4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and recommendations to retain our people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Mohamed Mekkawy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2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4"/>
              </a:lnSpc>
              <a:buNone/>
            </a:pPr>
            <a:r>
              <a:rPr lang="en-US" sz="284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Overview</a:t>
            </a:r>
            <a:endParaRPr lang="en-US" sz="2840" dirty="0"/>
          </a:p>
        </p:txBody>
      </p:sp>
      <p:sp>
        <p:nvSpPr>
          <p:cNvPr id="3" name="Shape 1"/>
          <p:cNvSpPr/>
          <p:nvPr/>
        </p:nvSpPr>
        <p:spPr>
          <a:xfrm>
            <a:off x="812800" y="1512391"/>
            <a:ext cx="3556000" cy="1247080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1400" y="1740991"/>
            <a:ext cx="31917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41400" y="2299791"/>
            <a:ext cx="319176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Left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2911872"/>
            <a:ext cx="3556000" cy="1247080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1400" y="3140472"/>
            <a:ext cx="31917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16.12%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41400" y="3699272"/>
            <a:ext cx="319176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800" y="4311352"/>
            <a:ext cx="3556000" cy="1247080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1400" y="4539952"/>
            <a:ext cx="31917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83.88%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41400" y="5098752"/>
            <a:ext cx="319176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73600" y="1512391"/>
            <a:ext cx="6705600" cy="4329609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27600" y="1766391"/>
            <a:ext cx="6383528" cy="261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558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by department</a:t>
            </a:r>
            <a:endParaRPr lang="en-US" sz="1558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40300" y="2167334"/>
          <a:ext cx="6184900" cy="2885083"/>
        </p:xfrm>
        <a:graphic>
          <a:graphicData uri="http://schemas.openxmlformats.org/drawingml/2006/table">
            <a:tbl>
              <a:tblPr/>
              <a:tblGrid>
                <a:gridCol w="154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869">
                <a:tc>
                  <a:txBody>
                    <a:bodyPr/>
                    <a:lstStyle/>
                    <a:p>
                      <a:pPr marL="0" indent="0">
                        <a:lnSpc>
                          <a:spcPts val="2030"/>
                        </a:lnSpc>
                        <a:buNone/>
                      </a:pPr>
                      <a:r>
                        <a:rPr lang="en-US" sz="1450" b="1" dirty="0">
                          <a:solidFill>
                            <a:srgbClr val="5560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Department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b="1" dirty="0">
                          <a:solidFill>
                            <a:srgbClr val="5560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Employees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b="1" dirty="0">
                          <a:solidFill>
                            <a:srgbClr val="5560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Employees Left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b="1" dirty="0">
                          <a:solidFill>
                            <a:srgbClr val="5560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Attrition Rate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639">
                <a:tc>
                  <a:txBody>
                    <a:bodyPr/>
                    <a:lstStyle/>
                    <a:p>
                      <a:pPr marL="0" indent="0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Resources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63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19.05%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639">
                <a:tc>
                  <a:txBody>
                    <a:bodyPr/>
                    <a:lstStyle/>
                    <a:p>
                      <a:pPr marL="0" indent="0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 &amp; Development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961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133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13.84%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968">
                <a:tc>
                  <a:txBody>
                    <a:bodyPr/>
                    <a:lstStyle/>
                    <a:p>
                      <a:pPr marL="0" indent="0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446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D645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20.63%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968">
                <a:tc>
                  <a:txBody>
                    <a:bodyPr/>
                    <a:lstStyle/>
                    <a:p>
                      <a:pPr marL="0" indent="0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1,470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237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030"/>
                        </a:lnSpc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16.12%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927600" y="5204817"/>
            <a:ext cx="6383528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8"/>
              </a:lnSpc>
              <a:buNone/>
            </a:pPr>
            <a:r>
              <a:rPr lang="en-US" sz="1117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has the highest attrition rate (20.63%). Research &amp; Development has the most leavers (133).</a:t>
            </a:r>
            <a:endParaRPr lang="en-US" sz="1117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2674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HR Attrition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 &amp; Overtime Issue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52324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rate by overtime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915021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overtime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2190552"/>
            <a:ext cx="2711450" cy="254000"/>
          </a:xfrm>
          <a:prstGeom prst="roundRect">
            <a:avLst>
              <a:gd name="adj" fmla="val 15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1250" y="2184202"/>
            <a:ext cx="91154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30.53%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2603302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overtime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2878832"/>
            <a:ext cx="927100" cy="2540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66900" y="2872482"/>
            <a:ext cx="882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10.44%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291582"/>
            <a:ext cx="52324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Representative: attrition rate by overtime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3642023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overtime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917553"/>
            <a:ext cx="3384550" cy="254000"/>
          </a:xfrm>
          <a:prstGeom prst="roundRect">
            <a:avLst>
              <a:gd name="adj" fmla="val 15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24350" y="3911203"/>
            <a:ext cx="8905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66.67%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330303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overtime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4605834"/>
            <a:ext cx="1460500" cy="2540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00300" y="4599484"/>
            <a:ext cx="8545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28.81%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99200" y="1564580"/>
            <a:ext cx="5080000" cy="1518245"/>
          </a:xfrm>
          <a:prstGeom prst="roundRect">
            <a:avLst>
              <a:gd name="adj" fmla="val 66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99200" y="1564580"/>
            <a:ext cx="5080000" cy="1518245"/>
          </a:xfrm>
          <a:custGeom>
            <a:avLst/>
            <a:gdLst/>
            <a:ahLst/>
            <a:cxnLst/>
            <a:rect l="l" t="t" r="r" b="b"/>
            <a:pathLst>
              <a:path w="5080000" h="1518245">
                <a:moveTo>
                  <a:pt x="101600" y="1518245"/>
                </a:moveTo>
                <a:lnTo>
                  <a:pt x="101600" y="151824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416645"/>
                </a:lnTo>
                <a:arcTo wR="50800" hR="101600" stAng="10800000" swAng="-5400000"/>
                <a:close/>
              </a:path>
            </a:pathLst>
          </a:cu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78600" y="179318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78600" y="2082701"/>
            <a:ext cx="470916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Overtime is the main driver behind high attrition across most job roles, especially for Sales Representatives working overtime (66.67%).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99200" y="3286026"/>
            <a:ext cx="5080000" cy="1518245"/>
          </a:xfrm>
          <a:prstGeom prst="roundRect">
            <a:avLst>
              <a:gd name="adj" fmla="val 66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99200" y="3286026"/>
            <a:ext cx="5080000" cy="1518245"/>
          </a:xfrm>
          <a:custGeom>
            <a:avLst/>
            <a:gdLst/>
            <a:ahLst/>
            <a:cxnLst/>
            <a:rect l="l" t="t" r="r" b="b"/>
            <a:pathLst>
              <a:path w="5080000" h="1518245">
                <a:moveTo>
                  <a:pt x="101600" y="1518245"/>
                </a:moveTo>
                <a:lnTo>
                  <a:pt x="101600" y="151824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416645"/>
                </a:lnTo>
                <a:arcTo wR="50800" hR="101600" stAng="10800000" swAng="-5400000"/>
                <a:close/>
              </a:path>
            </a:pathLst>
          </a:cu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78600" y="3514626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78600" y="3804146"/>
            <a:ext cx="470916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strict limits on overtime hours, hire more staff to share the workload, and give extra rewards to those who work long hours.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2674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HR Attrition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Keeping New Employees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2497"/>
            <a:ext cx="5080000" cy="1191121"/>
          </a:xfrm>
          <a:prstGeom prst="roundRect">
            <a:avLst>
              <a:gd name="adj" fmla="val 85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6000" y="1765697"/>
            <a:ext cx="4813808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3"/>
              </a:lnSpc>
              <a:buNone/>
            </a:pPr>
            <a:r>
              <a:rPr lang="en-US" sz="3963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36.36%</a:t>
            </a:r>
            <a:endParaRPr lang="en-US" sz="3963" dirty="0"/>
          </a:p>
        </p:txBody>
      </p:sp>
      <p:sp>
        <p:nvSpPr>
          <p:cNvPr id="5" name="Text 3"/>
          <p:cNvSpPr/>
          <p:nvPr/>
        </p:nvSpPr>
        <p:spPr>
          <a:xfrm>
            <a:off x="1016000" y="2320925"/>
            <a:ext cx="4813808" cy="25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for employees in their first year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2906018"/>
            <a:ext cx="5232400" cy="22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rate by environment satisfaction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255169"/>
            <a:ext cx="5232400" cy="25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1 (lowest)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3528120"/>
            <a:ext cx="3219450" cy="254000"/>
          </a:xfrm>
          <a:prstGeom prst="roundRect">
            <a:avLst>
              <a:gd name="adj" fmla="val 15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59250" y="3521869"/>
            <a:ext cx="8918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25.35%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939977"/>
            <a:ext cx="5232400" cy="25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00" y="4212927"/>
            <a:ext cx="1905000" cy="2540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44800" y="4206677"/>
            <a:ext cx="8661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14.98%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4624784"/>
            <a:ext cx="5232400" cy="25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800" y="4897735"/>
            <a:ext cx="1739900" cy="2540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79700" y="4891484"/>
            <a:ext cx="85784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13.69%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5309592"/>
            <a:ext cx="5232400" cy="25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4 (highest)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800" y="5582543"/>
            <a:ext cx="1708150" cy="2540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47950" y="5576292"/>
            <a:ext cx="8646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13.45%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99200" y="1562497"/>
            <a:ext cx="5080000" cy="1518245"/>
          </a:xfrm>
          <a:prstGeom prst="roundRect">
            <a:avLst>
              <a:gd name="adj" fmla="val 66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99200" y="1562497"/>
            <a:ext cx="5080000" cy="1518245"/>
          </a:xfrm>
          <a:custGeom>
            <a:avLst/>
            <a:gdLst/>
            <a:ahLst/>
            <a:cxnLst/>
            <a:rect l="l" t="t" r="r" b="b"/>
            <a:pathLst>
              <a:path w="5080000" h="1518245">
                <a:moveTo>
                  <a:pt x="101600" y="1518245"/>
                </a:moveTo>
                <a:lnTo>
                  <a:pt x="101600" y="151824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416645"/>
                </a:lnTo>
                <a:arcTo wR="50800" hR="101600" stAng="10800000" swAng="-5400000"/>
                <a:close/>
              </a:path>
            </a:pathLst>
          </a:cu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78600" y="1791097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78600" y="2080617"/>
            <a:ext cx="470916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in their first year record the highest turnover (36.36%), and low environment satisfaction shows the highest attrition (25.35%).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99200" y="3283942"/>
            <a:ext cx="5080000" cy="1775420"/>
          </a:xfrm>
          <a:prstGeom prst="roundRect">
            <a:avLst>
              <a:gd name="adj" fmla="val 57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99200" y="3283942"/>
            <a:ext cx="5080000" cy="1775420"/>
          </a:xfrm>
          <a:custGeom>
            <a:avLst/>
            <a:gdLst/>
            <a:ahLst/>
            <a:cxnLst/>
            <a:rect l="l" t="t" r="r" b="b"/>
            <a:pathLst>
              <a:path w="5080000" h="1775420">
                <a:moveTo>
                  <a:pt x="101600" y="1775420"/>
                </a:moveTo>
                <a:lnTo>
                  <a:pt x="101600" y="177542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673820"/>
                </a:lnTo>
                <a:arcTo wR="50800" hR="101600" stAng="10800000" swAng="-5400000"/>
                <a:close/>
              </a:path>
            </a:pathLst>
          </a:cu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78600" y="3512542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78600" y="3802062"/>
            <a:ext cx="470916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 strong 30-day training program, then keep supporting new employees for another 2 months so they adapt to the work environment effectively.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2674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HR Attrition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Entry-Level Salaries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52324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rate by income group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066131"/>
            <a:ext cx="151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1,500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0300" y="2042021"/>
            <a:ext cx="2673350" cy="279400"/>
          </a:xfrm>
          <a:prstGeom prst="roundRect">
            <a:avLst>
              <a:gd name="adj" fmla="val 13636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00650" y="1915021"/>
            <a:ext cx="7429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52.63%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2624931"/>
            <a:ext cx="151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1,501 to 3,000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00300" y="2600821"/>
            <a:ext cx="1390650" cy="279400"/>
          </a:xfrm>
          <a:prstGeom prst="roundRect">
            <a:avLst>
              <a:gd name="adj" fmla="val 13636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17950" y="2607171"/>
            <a:ext cx="8640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27.39%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056731"/>
            <a:ext cx="151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3,001 to 4,500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3032621"/>
            <a:ext cx="679450" cy="279400"/>
          </a:xfrm>
          <a:prstGeom prst="roundRect">
            <a:avLst>
              <a:gd name="adj" fmla="val 13636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6750" y="3038971"/>
            <a:ext cx="8589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13.39%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3488531"/>
            <a:ext cx="151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4,501 to 6,000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464421"/>
            <a:ext cx="615950" cy="279400"/>
          </a:xfrm>
          <a:prstGeom prst="roundRect">
            <a:avLst>
              <a:gd name="adj" fmla="val 13636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43250" y="3470771"/>
            <a:ext cx="8655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12.08%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3920331"/>
            <a:ext cx="151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6,001 to 7,500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3896221"/>
            <a:ext cx="488950" cy="279400"/>
          </a:xfrm>
          <a:prstGeom prst="roundRect">
            <a:avLst>
              <a:gd name="adj" fmla="val 13636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16250" y="3902571"/>
            <a:ext cx="7556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9.66%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4352131"/>
            <a:ext cx="1511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7,500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4328021"/>
            <a:ext cx="546100" cy="279400"/>
          </a:xfrm>
          <a:prstGeom prst="roundRect">
            <a:avLst>
              <a:gd name="adj" fmla="val 13636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73400" y="4334371"/>
            <a:ext cx="79640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10.71%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99200" y="1564580"/>
            <a:ext cx="5080000" cy="1261070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99200" y="1564580"/>
            <a:ext cx="5080000" cy="1261070"/>
          </a:xfrm>
          <a:custGeom>
            <a:avLst/>
            <a:gdLst/>
            <a:ahLst/>
            <a:cxnLst/>
            <a:rect l="l" t="t" r="r" b="b"/>
            <a:pathLst>
              <a:path w="5080000" h="1261070">
                <a:moveTo>
                  <a:pt x="101600" y="1261070"/>
                </a:moveTo>
                <a:lnTo>
                  <a:pt x="101600" y="126107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159470"/>
                </a:lnTo>
                <a:arcTo wR="50800" hR="101600" stAng="10800000" swAng="-5400000"/>
                <a:close/>
              </a:path>
            </a:pathLst>
          </a:cu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78600" y="179318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78600" y="2082701"/>
            <a:ext cx="470916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with the lowest income (Up to 1,500) have a very high turnover, reaching 52.63%.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99200" y="3028851"/>
            <a:ext cx="5080000" cy="1261070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99200" y="3028851"/>
            <a:ext cx="5080000" cy="1261070"/>
          </a:xfrm>
          <a:custGeom>
            <a:avLst/>
            <a:gdLst/>
            <a:ahLst/>
            <a:cxnLst/>
            <a:rect l="l" t="t" r="r" b="b"/>
            <a:pathLst>
              <a:path w="5080000" h="1261070">
                <a:moveTo>
                  <a:pt x="101600" y="1261070"/>
                </a:moveTo>
                <a:lnTo>
                  <a:pt x="101600" y="126107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159470"/>
                </a:lnTo>
                <a:arcTo wR="50800" hR="101600" stAng="10800000" swAng="-5400000"/>
                <a:close/>
              </a:path>
            </a:pathLst>
          </a:cu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78600" y="3257451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78600" y="3546971"/>
            <a:ext cx="470916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starting salaries to match the market and give new employees clear chances for promotion.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2674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HR Attrition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580"/>
            <a:ext cx="3386634" cy="2810966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800" y="1564580"/>
            <a:ext cx="3386634" cy="2810966"/>
          </a:xfrm>
          <a:custGeom>
            <a:avLst/>
            <a:gdLst/>
            <a:ahLst/>
            <a:cxnLst/>
            <a:rect l="l" t="t" r="r" b="b"/>
            <a:pathLst>
              <a:path w="3386634" h="281096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34" y="0"/>
                </a:lnTo>
                <a:arcTo wR="101600" hR="101600" stAng="16200000" swAng="5400000"/>
                <a:lnTo>
                  <a:pt x="338663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1400" y="184398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Overtime Workload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194421"/>
            <a:ext cx="301731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30.53%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41400" y="2778621"/>
            <a:ext cx="30173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with overtime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1400" y="3085902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1400" y="3375422"/>
            <a:ext cx="301731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strict limits on overtime hours, hire more staff, and reward long hours.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2634" y="1564580"/>
            <a:ext cx="3386634" cy="2810966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02634" y="1564580"/>
            <a:ext cx="3386634" cy="2810966"/>
          </a:xfrm>
          <a:custGeom>
            <a:avLst/>
            <a:gdLst/>
            <a:ahLst/>
            <a:cxnLst/>
            <a:rect l="l" t="t" r="r" b="b"/>
            <a:pathLst>
              <a:path w="3386634" h="281096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34" y="0"/>
                </a:lnTo>
                <a:arcTo wR="101600" hR="101600" stAng="16200000" swAng="5400000"/>
                <a:lnTo>
                  <a:pt x="338663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1234" y="184398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Employees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1234" y="2194421"/>
            <a:ext cx="301731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36.36%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31234" y="2778621"/>
            <a:ext cx="30173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in year 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1234" y="3085902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1234" y="3375422"/>
            <a:ext cx="301731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30-day training program, then support new employees for another 2 months.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92467" y="1564580"/>
            <a:ext cx="3386634" cy="2810966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92467" y="1564580"/>
            <a:ext cx="3386634" cy="2810966"/>
          </a:xfrm>
          <a:custGeom>
            <a:avLst/>
            <a:gdLst/>
            <a:ahLst/>
            <a:cxnLst/>
            <a:rect l="l" t="t" r="r" b="b"/>
            <a:pathLst>
              <a:path w="3386634" h="281096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34" y="0"/>
                </a:lnTo>
                <a:arcTo wR="101600" hR="101600" stAng="16200000" swAng="5400000"/>
                <a:lnTo>
                  <a:pt x="338663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1067" y="1843980"/>
            <a:ext cx="30173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Entry-Level Salaries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1067" y="2194421"/>
            <a:ext cx="301731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D64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52.63%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1067" y="2778621"/>
            <a:ext cx="30173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attrition, income up to 1,500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1067" y="3085902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1067" y="3375422"/>
            <a:ext cx="301731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starting salaries to match the market and offer clear chances for promotion.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674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HR Attrition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437110"/>
            <a:ext cx="889000" cy="63500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54610"/>
            <a:ext cx="10883392" cy="1488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F4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Retaining our people starts with three actions: manage overtime, support new employees, and raise entry-level pay.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6131620"/>
            <a:ext cx="303823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C4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 Attrition Analysis – Insights &amp; Recommendations">
  <a:themeElements>
    <a:clrScheme name="HR Attrition Analysis – Insights &amp; Recommendations">
      <a:dk1>
        <a:srgbClr val="1B2430"/>
      </a:dk1>
      <a:lt1>
        <a:srgbClr val="F4F2EC"/>
      </a:lt1>
      <a:dk2>
        <a:srgbClr val="51585F"/>
      </a:dk2>
      <a:lt2>
        <a:srgbClr val="DEDDD9"/>
      </a:lt2>
      <a:accent1>
        <a:srgbClr val="1F4E79"/>
      </a:accent1>
      <a:accent2>
        <a:srgbClr val="D64545"/>
      </a:accent2>
      <a:accent3>
        <a:srgbClr val="55606E"/>
      </a:accent3>
      <a:accent4>
        <a:srgbClr val="B8C4D2"/>
      </a:accent4>
      <a:accent5>
        <a:srgbClr val="9AA0A6"/>
      </a:accent5>
      <a:accent6>
        <a:srgbClr val="72767B"/>
      </a:accent6>
      <a:hlink>
        <a:srgbClr val="0563C1"/>
      </a:hlink>
      <a:folHlink>
        <a:srgbClr val="954F72"/>
      </a:folHlink>
    </a:clrScheme>
    <a:fontScheme name="HR Attrition Analysis – Insights &amp; Recommendation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Widescreen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Inter</vt:lpstr>
      <vt:lpstr>HR Attrition Analysis – Insights &amp; Recommendations</vt:lpstr>
      <vt:lpstr>HR Attrition Analysis</vt:lpstr>
      <vt:lpstr>Attrition Overview</vt:lpstr>
      <vt:lpstr>Workload &amp; Overtime Issue</vt:lpstr>
      <vt:lpstr>Keeping New Employees</vt:lpstr>
      <vt:lpstr>Entry-Level Salaries</vt:lpstr>
      <vt:lpstr>Recommendations at a Glance</vt:lpstr>
      <vt:lpstr>Retaining our people starts with three actions: manage overtime, support new employees, and raise entry-level pay.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 – Insights &amp; Recommendations</dc:title>
  <dc:subject/>
  <dc:creator>Mohamed Abdel Hady El Mohammady Mekkawy</dc:creator>
  <cp:lastModifiedBy>Mohamed Abdel Hady El Mohammady Mekkawy</cp:lastModifiedBy>
  <cp:revision>1</cp:revision>
  <dcterms:created xsi:type="dcterms:W3CDTF">2026-10-03T09:52:06Z</dcterms:created>
  <dcterms:modified xsi:type="dcterms:W3CDTF">2026-10-03T09:57:33Z</dcterms:modified>
</cp:coreProperties>
</file>